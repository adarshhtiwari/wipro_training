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useoModerno Medium"/>
      <p:regular r:id="rId15"/>
    </p:embeddedFont>
    <p:embeddedFont>
      <p:font typeface="MuseoModerno Medium"/>
      <p:regular r:id="rId16"/>
    </p:embeddedFont>
    <p:embeddedFont>
      <p:font typeface="MuseoModerno Medium"/>
      <p:regular r:id="rId17"/>
    </p:embeddedFont>
    <p:embeddedFont>
      <p:font typeface="MuseoModerno Medium"/>
      <p:regular r:id="rId18"/>
    </p:embeddedFont>
    <p:embeddedFont>
      <p:font typeface="Source Sans 3"/>
      <p:regular r:id="rId19"/>
    </p:embeddedFont>
    <p:embeddedFont>
      <p:font typeface="Source Sans 3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22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Design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31713"/>
            <a:ext cx="127277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Reusable solutions to common software design problems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4308872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5" name="Shape 3"/>
          <p:cNvSpPr/>
          <p:nvPr/>
        </p:nvSpPr>
        <p:spPr>
          <a:xfrm>
            <a:off x="2857857" y="430887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6" name="Shape 4"/>
          <p:cNvSpPr/>
          <p:nvPr/>
        </p:nvSpPr>
        <p:spPr>
          <a:xfrm>
            <a:off x="2788087" y="4223861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325F7B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4989433"/>
            <a:ext cx="4158615" cy="807958"/>
          </a:xfrm>
          <a:prstGeom prst="roundRect">
            <a:avLst>
              <a:gd name="adj" fmla="val 4211"/>
            </a:avLst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1455420" y="5216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Creational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299960" y="430887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0" name="Shape 8"/>
          <p:cNvSpPr/>
          <p:nvPr/>
        </p:nvSpPr>
        <p:spPr>
          <a:xfrm>
            <a:off x="7230189" y="4223861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325F7B"/>
          </a:solidFill>
          <a:ln/>
        </p:spPr>
      </p:sp>
      <p:sp>
        <p:nvSpPr>
          <p:cNvPr id="11" name="Shape 9"/>
          <p:cNvSpPr/>
          <p:nvPr/>
        </p:nvSpPr>
        <p:spPr>
          <a:xfrm>
            <a:off x="5235893" y="4989433"/>
            <a:ext cx="4158615" cy="807958"/>
          </a:xfrm>
          <a:prstGeom prst="roundRect">
            <a:avLst>
              <a:gd name="adj" fmla="val 4211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523" y="5216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Structural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742063" y="430887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72292" y="4223861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325F7B"/>
          </a:solidFill>
          <a:ln/>
        </p:spPr>
      </p:sp>
      <p:sp>
        <p:nvSpPr>
          <p:cNvPr id="15" name="Shape 13"/>
          <p:cNvSpPr/>
          <p:nvPr/>
        </p:nvSpPr>
        <p:spPr>
          <a:xfrm>
            <a:off x="9677995" y="4989433"/>
            <a:ext cx="4158615" cy="807958"/>
          </a:xfrm>
          <a:prstGeom prst="roundRect">
            <a:avLst>
              <a:gd name="adj" fmla="val 4211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9626" y="5216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Behavioral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8182"/>
            <a:ext cx="73860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What Are Design Patterns?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4015740"/>
            <a:ext cx="1270265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patterns are </a:t>
            </a:r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reusable solutions to commonly recurring problems in software design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Think of them as templates or blueprints — not finished code, but a proven approach you can adapt to your specific situation.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760589"/>
            <a:ext cx="30480" cy="1870829"/>
          </a:xfrm>
          <a:prstGeom prst="rect">
            <a:avLst/>
          </a:prstGeom>
          <a:solidFill>
            <a:srgbClr val="325F7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6682"/>
            <a:ext cx="77444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Three Categories of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890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Introduced by the Gang of Four (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Erich Gamma, Richard Helm, Ralph Johnson, and John Vlissides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in 1994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071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Behavioral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52437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 between objects. Examples: Observer, Strategy, Command, Iterator, Template Method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8071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25F7B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Creational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52437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 creation mechanisms. Examples: Singleton, Factory, Builder, Prototype, Abstract Factory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8071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25F7B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Structural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452437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Composing classes into larger structures. Examples: Adapter, Decorator, Facade, Proxy, Composite, Bridge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38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Behavioral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095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Observer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6166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One-to-many dependency; all dependents notified on state change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9154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newsletter subscriptions, stock alerts, youtube subscription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772501"/>
            <a:ext cx="6244709" cy="2268141"/>
          </a:xfrm>
          <a:prstGeom prst="roundRect">
            <a:avLst>
              <a:gd name="adj" fmla="val 1500"/>
            </a:avLst>
          </a:prstGeom>
          <a:solidFill>
            <a:srgbClr val="F2EFE8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772501"/>
            <a:ext cx="6267331" cy="2268141"/>
          </a:xfrm>
          <a:prstGeom prst="roundRect">
            <a:avLst>
              <a:gd name="adj" fmla="val 1500"/>
            </a:avLst>
          </a:prstGeom>
          <a:solidFill>
            <a:srgbClr val="F2EFE8"/>
          </a:solidFill>
          <a:ln/>
        </p:spPr>
      </p:sp>
      <p:sp>
        <p:nvSpPr>
          <p:cNvPr id="8" name="Text 6"/>
          <p:cNvSpPr/>
          <p:nvPr/>
        </p:nvSpPr>
        <p:spPr>
          <a:xfrm>
            <a:off x="1065967" y="4999315"/>
            <a:ext cx="570035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subject.Subscribe(observerA);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subject.Subscribe(observerB);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subject.SetState("new_data");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observerA.Update() called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observerB.Update() called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2095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Strategy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28616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Interchangeable algorithms at runtime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42864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payments (Card/PayPal/UPI), sorting (Bubble/Merge/Quick), compression, route planning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409599"/>
            <a:ext cx="6244709" cy="2268141"/>
          </a:xfrm>
          <a:prstGeom prst="roundRect">
            <a:avLst>
              <a:gd name="adj" fmla="val 1500"/>
            </a:avLst>
          </a:prstGeom>
          <a:solidFill>
            <a:srgbClr val="F2EF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8210" y="4409599"/>
            <a:ext cx="6267331" cy="2268141"/>
          </a:xfrm>
          <a:prstGeom prst="roundRect">
            <a:avLst>
              <a:gd name="adj" fmla="val 1500"/>
            </a:avLst>
          </a:prstGeom>
          <a:solidFill>
            <a:srgbClr val="F2EFE8"/>
          </a:solidFill>
          <a:ln/>
        </p:spPr>
      </p:sp>
      <p:sp>
        <p:nvSpPr>
          <p:cNvPr id="14" name="Text 12"/>
          <p:cNvSpPr/>
          <p:nvPr/>
        </p:nvSpPr>
        <p:spPr>
          <a:xfrm>
            <a:off x="7871698" y="4636413"/>
            <a:ext cx="570035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2863A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 cart = new ShoppingCart();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2863A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cart.SetPayment(new CreditCard());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2863A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cart.Checkout(); // pays by card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2863A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cart.SetPayment(new PayPal());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2863A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cart.Checkout(); // pays by PayPal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97706"/>
            <a:ext cx="5023842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Creational Patterns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81407" y="1770697"/>
            <a:ext cx="3014305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Singleton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781407" y="2325529"/>
            <a:ext cx="628864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Ensures only </a:t>
            </a:r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instance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exists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81407" y="2788801"/>
            <a:ext cx="628864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when: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shared DB connection, logger, config objects, thread pools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81407" y="3292197"/>
            <a:ext cx="6288643" cy="3736181"/>
          </a:xfrm>
          <a:prstGeom prst="roundRect">
            <a:avLst>
              <a:gd name="adj" fmla="val 807"/>
            </a:avLst>
          </a:prstGeom>
          <a:solidFill>
            <a:srgbClr val="F2EFE8"/>
          </a:solidFill>
          <a:ln/>
        </p:spPr>
      </p:sp>
      <p:sp>
        <p:nvSpPr>
          <p:cNvPr id="7" name="Shape 5"/>
          <p:cNvSpPr/>
          <p:nvPr/>
        </p:nvSpPr>
        <p:spPr>
          <a:xfrm>
            <a:off x="771406" y="3292197"/>
            <a:ext cx="6308646" cy="3736181"/>
          </a:xfrm>
          <a:prstGeom prst="roundRect">
            <a:avLst>
              <a:gd name="adj" fmla="val 807"/>
            </a:avLst>
          </a:prstGeom>
          <a:solidFill>
            <a:srgbClr val="F2EFE8"/>
          </a:solidFill>
          <a:ln/>
        </p:spPr>
      </p:sp>
      <p:sp>
        <p:nvSpPr>
          <p:cNvPr id="8" name="Text 6"/>
          <p:cNvSpPr/>
          <p:nvPr/>
        </p:nvSpPr>
        <p:spPr>
          <a:xfrm>
            <a:off x="1022509" y="3493056"/>
            <a:ext cx="5806440" cy="3334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Singleton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Singleton _instance;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Singleton() { }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Singleton GetInstance()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(_instance == null)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_instance = new Singleton();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_instance;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7970" y="1770697"/>
            <a:ext cx="3014305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Factory Method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7567970" y="2325529"/>
            <a:ext cx="628864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Let subclasses decide which class to instantiate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7970" y="2788801"/>
            <a:ext cx="628864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when: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object type at runtime, decoupling creation, plugin systems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567970" y="3292197"/>
            <a:ext cx="6288643" cy="4039314"/>
          </a:xfrm>
          <a:prstGeom prst="roundRect">
            <a:avLst>
              <a:gd name="adj" fmla="val 746"/>
            </a:avLst>
          </a:prstGeom>
          <a:solidFill>
            <a:srgbClr val="F2EF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57968" y="3292197"/>
            <a:ext cx="6308646" cy="4039314"/>
          </a:xfrm>
          <a:prstGeom prst="roundRect">
            <a:avLst>
              <a:gd name="adj" fmla="val 746"/>
            </a:avLst>
          </a:prstGeom>
          <a:solidFill>
            <a:srgbClr val="F2EFE8"/>
          </a:solidFill>
          <a:ln/>
        </p:spPr>
      </p:sp>
      <p:sp>
        <p:nvSpPr>
          <p:cNvPr id="14" name="Text 12"/>
          <p:cNvSpPr/>
          <p:nvPr/>
        </p:nvSpPr>
        <p:spPr>
          <a:xfrm>
            <a:off x="7809071" y="3493056"/>
            <a:ext cx="5806440" cy="3637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ShapeFactory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IShape Create(string shapeType)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shapeType switch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"circle" =&gt; new Circle(),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"rect" =&gt; new Rectangle(),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 =&gt; throw new ArgumentException()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23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Structural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811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Adapter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6802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Converts one interface into another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471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Analogy: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travel plug adapter between US and EU sockets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865245"/>
            <a:ext cx="6244709" cy="3356848"/>
          </a:xfrm>
          <a:prstGeom prst="roundRect">
            <a:avLst>
              <a:gd name="adj" fmla="val 1014"/>
            </a:avLst>
          </a:prstGeom>
          <a:solidFill>
            <a:srgbClr val="F2EFE8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3865245"/>
            <a:ext cx="6267331" cy="3356848"/>
          </a:xfrm>
          <a:prstGeom prst="roundRect">
            <a:avLst>
              <a:gd name="adj" fmla="val 1014"/>
            </a:avLst>
          </a:prstGeom>
          <a:solidFill>
            <a:srgbClr val="F2EFE8"/>
          </a:solidFill>
          <a:ln/>
        </p:spPr>
      </p:sp>
      <p:sp>
        <p:nvSpPr>
          <p:cNvPr id="8" name="Text 6"/>
          <p:cNvSpPr/>
          <p:nvPr/>
        </p:nvSpPr>
        <p:spPr>
          <a:xfrm>
            <a:off x="1065967" y="4092059"/>
            <a:ext cx="570035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OtgAdapter : ITypeCDevice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UsbPendrive _pendrive;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OtgAdapter(UsbPendrive pendrive)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_pendrive = pendrive;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ConnectViaTypeC()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_pendrive.ConnectViaUsbA();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02811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Decorator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26802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Adds responsibilities to an object dynamically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24719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Analogy: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coffee — add milk, sugar, syrup without changing the base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228148"/>
            <a:ext cx="6244709" cy="2993946"/>
          </a:xfrm>
          <a:prstGeom prst="roundRect">
            <a:avLst>
              <a:gd name="adj" fmla="val 1136"/>
            </a:avLst>
          </a:prstGeom>
          <a:solidFill>
            <a:srgbClr val="F2EF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8210" y="4228148"/>
            <a:ext cx="6267331" cy="2993946"/>
          </a:xfrm>
          <a:prstGeom prst="roundRect">
            <a:avLst>
              <a:gd name="adj" fmla="val 1136"/>
            </a:avLst>
          </a:prstGeom>
          <a:solidFill>
            <a:srgbClr val="F2EFE8"/>
          </a:solidFill>
          <a:ln/>
        </p:spPr>
      </p:sp>
      <p:sp>
        <p:nvSpPr>
          <p:cNvPr id="14" name="Text 12"/>
          <p:cNvSpPr/>
          <p:nvPr/>
        </p:nvSpPr>
        <p:spPr>
          <a:xfrm>
            <a:off x="7871698" y="4454962"/>
            <a:ext cx="570035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ICoffee coffee = new SimpleCoffee();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coffee = new MilkDecorator(coffee);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coffee = new SugarDecorator(coffee);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Console.WriteLine(coffee.GetCost()); // 1.00 + 0.50 + 0.25 = 1.75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Console.WriteLine(coffee.GetDesc()); // Simple + Milk + Sugar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80800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When to Use Design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25F7B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USE Patterns When: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Solving a recurring design problem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needs a shared vocabulary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Flexibility and extensibility matter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is becoming tightly coupled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Working on a medium-to-large codebase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321129"/>
            <a:ext cx="388239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1738C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AVOID Patterns When: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973235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is simple and straightforward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Pattern adds unnecessary complexity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prototyping or scripting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is unfamiliar with the pattern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forces an unnatural fit ("pattern fever")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1572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00"/>
              </a:lnSpc>
              <a:buNone/>
            </a:pPr>
            <a:r>
              <a:rPr lang="en-US" sz="13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Thank You</a:t>
            </a:r>
            <a:endParaRPr lang="en-US" sz="13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2026-05-02T04:17:12Z</dcterms:created>
  <dcterms:modified xsi:type="dcterms:W3CDTF">2026-05-02T04:17:12Z</dcterms:modified>
</cp:coreProperties>
</file>